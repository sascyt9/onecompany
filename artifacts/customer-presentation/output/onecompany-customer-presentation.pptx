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OneCompany/artifacts/customer-presentation/scratch/asset-cover-brabu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493000" cy="6858000"/>
          </a:xfrm>
          <a:prstGeom prst="rect">
            <a:avLst/>
          </a:prstGeom>
          <a:solidFill>
            <a:srgbClr val="090909">
              <a:alpha val="85000"/>
            </a:srgbClr>
          </a:solidFill>
          <a:ln w="12700">
            <a:solidFill>
              <a:srgbClr val="090909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7700" y="1130300"/>
            <a:ext cx="63500" cy="4572000"/>
          </a:xfrm>
          <a:prstGeom prst="rect">
            <a:avLst/>
          </a:prstGeom>
          <a:solidFill>
            <a:srgbClr val="B08A57"/>
          </a:solidFill>
          <a:ln w="12700">
            <a:solidFill>
              <a:srgbClr val="B08A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0900" y="876300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ONECOMPANY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8200" y="1816100"/>
            <a:ext cx="527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Premium automotive commerce platform</a:t>
            </a:r>
            <a:endParaRPr lang="en-US" sz="4300" dirty="0"/>
          </a:p>
        </p:txBody>
      </p:sp>
      <p:sp>
        <p:nvSpPr>
          <p:cNvPr id="7" name="Text 4"/>
          <p:cNvSpPr/>
          <p:nvPr/>
        </p:nvSpPr>
        <p:spPr>
          <a:xfrm>
            <a:off x="863600" y="3403600"/>
            <a:ext cx="482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Storefront, B2B operations, catalog sync, CRM and payments in one operational system.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3600" y="5651500"/>
            <a:ext cx="425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Презентація проекту для замовника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500" y="431800"/>
            <a:ext cx="749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Що будує OneCompany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11200" y="1092200"/>
            <a:ext cx="736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Преміальна ecommerce та CRM-платформа для авто- і мото performance-напрямку.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11200" y="1587500"/>
            <a:ext cx="1143000" cy="0"/>
          </a:xfrm>
          <a:prstGeom prst="line">
            <a:avLst/>
          </a:prstGeom>
          <a:noFill/>
          <a:ln w="27940">
            <a:solidFill>
              <a:srgbClr val="B08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0" y="4953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300" dirty="0"/>
          </a:p>
        </p:txBody>
      </p:sp>
      <p:pic>
        <p:nvPicPr>
          <p:cNvPr id="6" name="Image 0" descr="D:/OneCompany/artifacts/customer-presentation/scratch/asset-adro-catalo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3500" y="1016000"/>
            <a:ext cx="4572000" cy="317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2000" y="2286000"/>
            <a:ext cx="17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249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787400" y="278130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локальних brand definitions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730500" y="2286000"/>
            <a:ext cx="17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UA/EN</a:t>
            </a:r>
            <a:endParaRPr lang="en-US" sz="3900" dirty="0"/>
          </a:p>
        </p:txBody>
      </p:sp>
      <p:sp>
        <p:nvSpPr>
          <p:cNvPr id="10" name="Text 7"/>
          <p:cNvSpPr/>
          <p:nvPr/>
        </p:nvSpPr>
        <p:spPr>
          <a:xfrm>
            <a:off x="2755900" y="278130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обов'язкова локалізація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86000"/>
            <a:ext cx="17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12</a:t>
            </a:r>
            <a:endParaRPr lang="en-US" sz="3900" dirty="0"/>
          </a:p>
        </p:txBody>
      </p:sp>
      <p:sp>
        <p:nvSpPr>
          <p:cNvPr id="12" name="Text 9"/>
          <p:cNvSpPr/>
          <p:nvPr/>
        </p:nvSpPr>
        <p:spPr>
          <a:xfrm>
            <a:off x="4597400" y="278130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активних shop image sets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62000" y="3962400"/>
            <a:ext cx="76200" cy="76200"/>
          </a:xfrm>
          <a:prstGeom prst="ellipse">
            <a:avLst/>
          </a:prstGeom>
          <a:solidFill>
            <a:srgbClr val="B08A57"/>
          </a:solidFill>
          <a:ln w="12700">
            <a:solidFill>
              <a:srgbClr val="B08A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9800" y="3873500"/>
            <a:ext cx="482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E9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Клієнт бачить premium storefront з реальними брендовими assets.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62000" y="4406900"/>
            <a:ext cx="76200" cy="76200"/>
          </a:xfrm>
          <a:prstGeom prst="ellipse">
            <a:avLst/>
          </a:prstGeom>
          <a:solidFill>
            <a:srgbClr val="B08A57"/>
          </a:solidFill>
          <a:ln w="12700">
            <a:solidFill>
              <a:srgbClr val="B08A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9800" y="4318000"/>
            <a:ext cx="508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E9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Команда керує каталогом, цінами, замовленнями, клієнтами й SEO з admin-зони.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62000" y="4851400"/>
            <a:ext cx="76200" cy="76200"/>
          </a:xfrm>
          <a:prstGeom prst="ellipse">
            <a:avLst/>
          </a:prstGeom>
          <a:solidFill>
            <a:srgbClr val="B08A57"/>
          </a:solidFill>
          <a:ln w="12700">
            <a:solidFill>
              <a:srgbClr val="B08A5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9800" y="4762500"/>
            <a:ext cx="520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E9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Архітектура враховує B2C, B2B, Turn14, WhitePay, валютні курси та логістику.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11200" y="6413500"/>
            <a:ext cx="8826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Джерела: README.md; src/lib/brands.ts; public/images/shop/*; .agents/PROJECT_CONTEXT.md.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588500" y="64135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OneCompany · customer presentation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500" y="431800"/>
            <a:ext cx="749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Storefront як вітрина довіри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11200" y="1092200"/>
            <a:ext cx="736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Брендова подача, локалізована навігація, товарні сторінки і швидкий запит.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11200" y="1587500"/>
            <a:ext cx="1143000" cy="0"/>
          </a:xfrm>
          <a:prstGeom prst="line">
            <a:avLst/>
          </a:prstGeom>
          <a:noFill/>
          <a:ln w="27940">
            <a:solidFill>
              <a:srgbClr val="B08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0" y="4953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300" dirty="0"/>
          </a:p>
        </p:txBody>
      </p:sp>
      <p:pic>
        <p:nvPicPr>
          <p:cNvPr id="6" name="Image 0" descr="D:/OneCompany/artifacts/customer-presentation/scratch/asset-akra-ra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2095500"/>
            <a:ext cx="5207000" cy="2095500"/>
          </a:xfrm>
          <a:prstGeom prst="rect">
            <a:avLst/>
          </a:prstGeom>
        </p:spPr>
      </p:pic>
      <p:pic>
        <p:nvPicPr>
          <p:cNvPr id="7" name="Image 1" descr="D:/OneCompany/artifacts/customer-presentation/scratch/asset-girodis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0" y="2095500"/>
            <a:ext cx="4445000" cy="2984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3900" y="4540250"/>
            <a:ext cx="228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CUSTOMER JOURNEY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736600" y="4946650"/>
            <a:ext cx="76200" cy="76200"/>
          </a:xfrm>
          <a:prstGeom prst="ellipse">
            <a:avLst/>
          </a:prstGeom>
          <a:solidFill>
            <a:srgbClr val="7897B7"/>
          </a:solidFill>
          <a:ln w="12700">
            <a:solidFill>
              <a:srgbClr val="7897B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0" y="4857750"/>
            <a:ext cx="482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E9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Localized routes under /[locale]/shop, /brands, /categories, /contact.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36600" y="5359400"/>
            <a:ext cx="76200" cy="76200"/>
          </a:xfrm>
          <a:prstGeom prst="ellipse">
            <a:avLst/>
          </a:prstGeom>
          <a:solidFill>
            <a:srgbClr val="7897B7"/>
          </a:solidFill>
          <a:ln w="12700">
            <a:solidFill>
              <a:srgbClr val="7897B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" y="5270500"/>
            <a:ext cx="5270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E9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detail layouts include media, pricing bands, B2B visibility and request flows.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51600" y="5302250"/>
            <a:ext cx="228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VISUAL STANDARD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451600" y="5600700"/>
            <a:ext cx="4508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E9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official imagery only; no stock filler. Premium automotive luxury: obsidian, bronze, restraint.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11200" y="6413500"/>
            <a:ext cx="8826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Джерела: src/app/[locale]/shop; src/app/[locale]/brands; public/images/shop/*.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9588500" y="64135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OneCompany · customer presentation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500" y="431800"/>
            <a:ext cx="749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Каталог побудований як операційна база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11200" y="1092200"/>
            <a:ext cx="736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schema фіксує продукт, варіанти, медіа, категорії, колекції, склади, логістику та податки.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11200" y="1587500"/>
            <a:ext cx="1143000" cy="0"/>
          </a:xfrm>
          <a:prstGeom prst="line">
            <a:avLst/>
          </a:prstGeom>
          <a:noFill/>
          <a:ln w="27940">
            <a:solidFill>
              <a:srgbClr val="B08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0" y="4953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0750" y="2286000"/>
            <a:ext cx="1460500" cy="609600"/>
          </a:xfrm>
          <a:prstGeom prst="rect">
            <a:avLst/>
          </a:prstGeom>
          <a:solidFill>
            <a:srgbClr val="B08A57"/>
          </a:solidFill>
          <a:ln w="12700">
            <a:solidFill>
              <a:srgbClr val="B08A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3150" y="2463800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9090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Product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413000" y="2590800"/>
            <a:ext cx="685800" cy="0"/>
          </a:xfrm>
          <a:prstGeom prst="line">
            <a:avLst/>
          </a:prstGeom>
          <a:noFill/>
          <a:ln w="19050">
            <a:solidFill>
              <a:srgbClr val="746E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52750" y="2825750"/>
            <a:ext cx="1460500" cy="609600"/>
          </a:xfrm>
          <a:prstGeom prst="rect">
            <a:avLst/>
          </a:prstGeom>
          <a:solidFill>
            <a:srgbClr val="171513"/>
          </a:solidFill>
          <a:ln w="12700">
            <a:solidFill>
              <a:srgbClr val="D2B1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5150" y="3003550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Variant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45000" y="3130550"/>
            <a:ext cx="685800" cy="0"/>
          </a:xfrm>
          <a:prstGeom prst="line">
            <a:avLst/>
          </a:prstGeom>
          <a:noFill/>
          <a:ln w="19050">
            <a:solidFill>
              <a:srgbClr val="746E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4750" y="2286000"/>
            <a:ext cx="1460500" cy="609600"/>
          </a:xfrm>
          <a:prstGeom prst="rect">
            <a:avLst/>
          </a:prstGeom>
          <a:solidFill>
            <a:srgbClr val="171513"/>
          </a:solidFill>
          <a:ln w="12700">
            <a:solidFill>
              <a:srgbClr val="789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7150" y="2463800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77000" y="2590800"/>
            <a:ext cx="685800" cy="0"/>
          </a:xfrm>
          <a:prstGeom prst="line">
            <a:avLst/>
          </a:prstGeom>
          <a:noFill/>
          <a:ln w="19050">
            <a:solidFill>
              <a:srgbClr val="746E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16750" y="2825750"/>
            <a:ext cx="1460500" cy="609600"/>
          </a:xfrm>
          <a:prstGeom prst="rect">
            <a:avLst/>
          </a:prstGeom>
          <a:solidFill>
            <a:srgbClr val="171513"/>
          </a:solidFill>
          <a:ln w="12700">
            <a:solidFill>
              <a:srgbClr val="6FA4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9150" y="3003550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Inventory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509000" y="3130550"/>
            <a:ext cx="685800" cy="0"/>
          </a:xfrm>
          <a:prstGeom prst="line">
            <a:avLst/>
          </a:prstGeom>
          <a:noFill/>
          <a:ln w="19050">
            <a:solidFill>
              <a:srgbClr val="746E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48750" y="2286000"/>
            <a:ext cx="1460500" cy="609600"/>
          </a:xfrm>
          <a:prstGeom prst="rect">
            <a:avLst/>
          </a:prstGeom>
          <a:solidFill>
            <a:srgbClr val="171513"/>
          </a:solidFill>
          <a:ln w="12700">
            <a:solidFill>
              <a:srgbClr val="A734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01150" y="2463800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Order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52500" y="4406900"/>
            <a:ext cx="76200" cy="76200"/>
          </a:xfrm>
          <a:prstGeom prst="ellipse">
            <a:avLst/>
          </a:prstGeom>
          <a:solidFill>
            <a:srgbClr val="B08A57"/>
          </a:solidFill>
          <a:ln w="12700">
            <a:solidFill>
              <a:srgbClr val="B08A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0300" y="4318000"/>
            <a:ext cx="482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E9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ShopProduct is the source for localized titles, SEO copy, status, brand and base pricing.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52500" y="4851400"/>
            <a:ext cx="76200" cy="76200"/>
          </a:xfrm>
          <a:prstGeom prst="ellipse">
            <a:avLst/>
          </a:prstGeom>
          <a:solidFill>
            <a:srgbClr val="B08A57"/>
          </a:solidFill>
          <a:ln w="12700">
            <a:solidFill>
              <a:srgbClr val="B08A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30300" y="4762500"/>
            <a:ext cx="520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E9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ShopProductVariant carries SKU, Turn14 ID/hash, B2B prices, dimensions and inventory relations.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2500" y="5295900"/>
            <a:ext cx="76200" cy="76200"/>
          </a:xfrm>
          <a:prstGeom prst="ellipse">
            <a:avLst/>
          </a:prstGeom>
          <a:solidFill>
            <a:srgbClr val="B08A57"/>
          </a:solidFill>
          <a:ln w="12700">
            <a:solidFill>
              <a:srgbClr val="B08A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0300" y="5207000"/>
            <a:ext cx="5397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E9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ShopOrder keeps customer snapshot, pricing snapshot, payment status, shipments and status events.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1200" y="6413500"/>
            <a:ext cx="8826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Джерело: prisma/schema.prisma models ShopProduct, ShopProductVariant, ShopOrder, ShopWarehouse.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588500" y="64135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OneCompany · customer presentation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500" y="431800"/>
            <a:ext cx="749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B2B і B2C не змішані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11200" y="1092200"/>
            <a:ext cx="736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Платформа відділяє публічну покупку від партнерських умов, approval-логіки і персональних знижок.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11200" y="1587500"/>
            <a:ext cx="1143000" cy="0"/>
          </a:xfrm>
          <a:prstGeom prst="line">
            <a:avLst/>
          </a:prstGeom>
          <a:noFill/>
          <a:ln w="27940">
            <a:solidFill>
              <a:srgbClr val="B08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0" y="4953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52500" y="228600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B2C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52500" y="2844800"/>
            <a:ext cx="1143000" cy="0"/>
          </a:xfrm>
          <a:prstGeom prst="line">
            <a:avLst/>
          </a:prstGeom>
          <a:noFill/>
          <a:ln w="27940">
            <a:solidFill>
              <a:srgbClr val="789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3175000"/>
            <a:ext cx="4064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visibility, cart, localized price display and customer checkout.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3905250"/>
            <a:ext cx="406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F2E9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UAH / EUR / USD display is computed through currency helpers and runtime rates.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13500" y="228600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B2B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6413500" y="2844800"/>
            <a:ext cx="1143000" cy="0"/>
          </a:xfrm>
          <a:prstGeom prst="line">
            <a:avLst/>
          </a:prstGeom>
          <a:noFill/>
          <a:ln w="27940">
            <a:solidFill>
              <a:srgbClr val="B08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3500" y="3175000"/>
            <a:ext cx="4064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Approved-only visibility, account group, company data and customer-specific discount percent.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13500" y="3905250"/>
            <a:ext cx="406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F2E9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order creation injects B2B discounts and keeps customer group snapshots.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1200" y="6413500"/>
            <a:ext cx="8826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Джерела: prisma/schema.prisma ShopSettings/ShopCustomer/ShopOrder; src/lib/shopDisplayPrices.ts.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588500" y="64135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OneCompany · customer presentation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500" y="431800"/>
            <a:ext cx="749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Turn14 інтеграція збережена як supply backbone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11200" y="1092200"/>
            <a:ext cx="736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Локальний mirror знімає залежність від зовнішнього пошуку і дає контроль над цінами, брендами та sync-status.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11200" y="1587500"/>
            <a:ext cx="1143000" cy="0"/>
          </a:xfrm>
          <a:prstGeom prst="line">
            <a:avLst/>
          </a:prstGeom>
          <a:noFill/>
          <a:ln w="27940">
            <a:solidFill>
              <a:srgbClr val="B08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0" y="4953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500" y="2317750"/>
            <a:ext cx="609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5500" y="2832100"/>
            <a:ext cx="1333500" cy="0"/>
          </a:xfrm>
          <a:prstGeom prst="line">
            <a:avLst/>
          </a:prstGeom>
          <a:noFill/>
          <a:ln w="21590">
            <a:solidFill>
              <a:srgbClr val="B08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5500" y="3060700"/>
            <a:ext cx="168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Brand lookup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5500" y="339725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знаходимо бренд у Turn14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84500" y="2317750"/>
            <a:ext cx="609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2984500" y="2832100"/>
            <a:ext cx="1333500" cy="0"/>
          </a:xfrm>
          <a:prstGeom prst="line">
            <a:avLst/>
          </a:prstGeom>
          <a:noFill/>
          <a:ln w="21590">
            <a:solidFill>
              <a:srgbClr val="789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84500" y="3060700"/>
            <a:ext cx="168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Paginated fetch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84500" y="339725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витягуємо всі item pages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43500" y="2317750"/>
            <a:ext cx="609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3100" dirty="0"/>
          </a:p>
        </p:txBody>
      </p:sp>
      <p:sp>
        <p:nvSpPr>
          <p:cNvPr id="15" name="Shape 13"/>
          <p:cNvSpPr/>
          <p:nvPr/>
        </p:nvSpPr>
        <p:spPr>
          <a:xfrm>
            <a:off x="5143500" y="2832100"/>
            <a:ext cx="1333500" cy="0"/>
          </a:xfrm>
          <a:prstGeom prst="line">
            <a:avLst/>
          </a:prstGeom>
          <a:noFill/>
          <a:ln w="21590">
            <a:solidFill>
              <a:srgbClr val="B08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3500" y="3060700"/>
            <a:ext cx="168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Normalize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143500" y="339725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slug, SKU, dimensions, HTML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02500" y="2317750"/>
            <a:ext cx="609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3100" dirty="0"/>
          </a:p>
        </p:txBody>
      </p:sp>
      <p:sp>
        <p:nvSpPr>
          <p:cNvPr id="19" name="Shape 17"/>
          <p:cNvSpPr/>
          <p:nvPr/>
        </p:nvSpPr>
        <p:spPr>
          <a:xfrm>
            <a:off x="7302500" y="2832100"/>
            <a:ext cx="1333500" cy="0"/>
          </a:xfrm>
          <a:prstGeom prst="line">
            <a:avLst/>
          </a:prstGeom>
          <a:noFill/>
          <a:ln w="21590">
            <a:solidFill>
              <a:srgbClr val="789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02500" y="3060700"/>
            <a:ext cx="168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Upsert DB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02500" y="339725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ShopProduct + Variant + Media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61500" y="2317750"/>
            <a:ext cx="609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endParaRPr lang="en-US" sz="3100" dirty="0"/>
          </a:p>
        </p:txBody>
      </p:sp>
      <p:sp>
        <p:nvSpPr>
          <p:cNvPr id="23" name="Shape 21"/>
          <p:cNvSpPr/>
          <p:nvPr/>
        </p:nvSpPr>
        <p:spPr>
          <a:xfrm>
            <a:off x="9461500" y="2832100"/>
            <a:ext cx="1333500" cy="0"/>
          </a:xfrm>
          <a:prstGeom prst="line">
            <a:avLst/>
          </a:prstGeom>
          <a:noFill/>
          <a:ln w="21590">
            <a:solidFill>
              <a:srgbClr val="B08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1500" y="3060700"/>
            <a:ext cx="168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Markup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461500" y="339725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brand/customer B2B overrides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5500" y="4826000"/>
            <a:ext cx="787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E9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point: imported supplier data becomes local commerce data before it reaches customer-facing pages.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1200" y="6413500"/>
            <a:ext cx="8826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Джерела: src/lib/turn14.ts; src/lib/turn14Sync.ts; src/lib/turn14Pricing.ts; prisma Turn14CatalogItem.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588500" y="64135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OneCompany · customer presentation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500" y="431800"/>
            <a:ext cx="749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Замовлення і платежі вже мають production контур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11200" y="1092200"/>
            <a:ext cx="736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 → order → payment link → callback/status → admin order management.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11200" y="1587500"/>
            <a:ext cx="1143000" cy="0"/>
          </a:xfrm>
          <a:prstGeom prst="line">
            <a:avLst/>
          </a:prstGeom>
          <a:noFill/>
          <a:ln w="27940">
            <a:solidFill>
              <a:srgbClr val="B08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0" y="4953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07</a:t>
            </a:r>
            <a:endParaRPr lang="en-US" sz="1300" dirty="0"/>
          </a:p>
        </p:txBody>
      </p:sp>
      <p:pic>
        <p:nvPicPr>
          <p:cNvPr id="6" name="Image 0" descr="D:/OneCompany/artifacts/customer-presentation/scratch/asset-brabus-eng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0" y="1333500"/>
            <a:ext cx="3556000" cy="355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5500" y="2095500"/>
            <a:ext cx="1460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Cart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2381250" y="2273300"/>
            <a:ext cx="2984500" cy="0"/>
          </a:xfrm>
          <a:prstGeom prst="line">
            <a:avLst/>
          </a:prstGeom>
          <a:noFill/>
          <a:ln w="19050">
            <a:solidFill>
              <a:srgbClr val="746E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88000" y="2108200"/>
            <a:ext cx="158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token, locale, currency, cart items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5500" y="2857500"/>
            <a:ext cx="1460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Order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2381250" y="3035300"/>
            <a:ext cx="2984500" cy="0"/>
          </a:xfrm>
          <a:prstGeom prst="line">
            <a:avLst/>
          </a:prstGeom>
          <a:noFill/>
          <a:ln w="19050">
            <a:solidFill>
              <a:srgbClr val="746E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88000" y="2870200"/>
            <a:ext cx="158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snapshot, totals, status events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5500" y="3619500"/>
            <a:ext cx="1460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WhitePay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2381250" y="3797300"/>
            <a:ext cx="2984500" cy="0"/>
          </a:xfrm>
          <a:prstGeom prst="line">
            <a:avLst/>
          </a:prstGeom>
          <a:noFill/>
          <a:ln w="19050">
            <a:solidFill>
              <a:srgbClr val="B08A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88000" y="3632200"/>
            <a:ext cx="158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fiat and crypto order creation routes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5500" y="4381500"/>
            <a:ext cx="1460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Admin</a:t>
            </a:r>
            <a:endParaRPr lang="en-US" sz="2300" dirty="0"/>
          </a:p>
        </p:txBody>
      </p:sp>
      <p:sp>
        <p:nvSpPr>
          <p:cNvPr id="17" name="Shape 14"/>
          <p:cNvSpPr/>
          <p:nvPr/>
        </p:nvSpPr>
        <p:spPr>
          <a:xfrm>
            <a:off x="2381250" y="4559300"/>
            <a:ext cx="2984500" cy="0"/>
          </a:xfrm>
          <a:prstGeom prst="line">
            <a:avLst/>
          </a:prstGeom>
          <a:noFill/>
          <a:ln w="19050">
            <a:solidFill>
              <a:srgbClr val="746E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88000" y="4394200"/>
            <a:ext cx="158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order, invoice, payment status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11200" y="6413500"/>
            <a:ext cx="8826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Джерела: src/lib/shopWhitepay.ts; src/app/api/admin/shop/orders; prisma ShopCart/ShopOrder.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588500" y="64135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OneCompany · customer presentation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500" y="431800"/>
            <a:ext cx="749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Admin зона закриває щоденні операції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11200" y="1092200"/>
            <a:ext cx="736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просто CMS: управління каталогом, цінами, замовленнями, клієнтами, логістикою, SEO і supplier sync.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11200" y="1587500"/>
            <a:ext cx="1143000" cy="0"/>
          </a:xfrm>
          <a:prstGeom prst="line">
            <a:avLst/>
          </a:prstGeom>
          <a:noFill/>
          <a:ln w="27940">
            <a:solidFill>
              <a:srgbClr val="B08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0" y="4953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52500" y="225425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Catalog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52500" y="2622550"/>
            <a:ext cx="1524000" cy="0"/>
          </a:xfrm>
          <a:prstGeom prst="line">
            <a:avLst/>
          </a:prstGeom>
          <a:noFill/>
          <a:ln w="19050">
            <a:solidFill>
              <a:srgbClr val="746E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2800350"/>
            <a:ext cx="2603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products, variants, media, bundles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81500" y="225425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Orders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81500" y="2622550"/>
            <a:ext cx="1524000" cy="0"/>
          </a:xfrm>
          <a:prstGeom prst="line">
            <a:avLst/>
          </a:prstGeom>
          <a:noFill/>
          <a:ln w="19050">
            <a:solidFill>
              <a:srgbClr val="746E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1500" y="2800350"/>
            <a:ext cx="2603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draft/manual orders, status, payments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0500" y="225425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CRM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810500" y="2622550"/>
            <a:ext cx="1524000" cy="0"/>
          </a:xfrm>
          <a:prstGeom prst="line">
            <a:avLst/>
          </a:prstGeom>
          <a:noFill/>
          <a:ln w="19050">
            <a:solidFill>
              <a:srgbClr val="746E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0500" y="2800350"/>
            <a:ext cx="2603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customers, B2B groups, discounts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52500" y="355600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Inventory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52500" y="3924300"/>
            <a:ext cx="1524000" cy="0"/>
          </a:xfrm>
          <a:prstGeom prst="line">
            <a:avLst/>
          </a:prstGeom>
          <a:noFill/>
          <a:ln w="19050">
            <a:solidFill>
              <a:srgbClr val="746E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2500" y="4102100"/>
            <a:ext cx="2603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stock, warehouses, logistics rules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81500" y="355600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Turn14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381500" y="3924300"/>
            <a:ext cx="1524000" cy="0"/>
          </a:xfrm>
          <a:prstGeom prst="line">
            <a:avLst/>
          </a:prstGeom>
          <a:noFill/>
          <a:ln w="19050">
            <a:solidFill>
              <a:srgbClr val="B08A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1500" y="4102100"/>
            <a:ext cx="2603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 markups, sync, local search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10500" y="355600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SEO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810500" y="3924300"/>
            <a:ext cx="1524000" cy="0"/>
          </a:xfrm>
          <a:prstGeom prst="line">
            <a:avLst/>
          </a:prstGeom>
          <a:noFill/>
          <a:ln w="19050">
            <a:solidFill>
              <a:srgbClr val="746E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0500" y="4102100"/>
            <a:ext cx="2603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copy, feeds, localized pages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1200" y="6413500"/>
            <a:ext cx="8826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Джерело: src/app/admin/*; src/app/api/admin/*; src/components/admin/AdminShell.tsx.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588500" y="64135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OneCompany · customer presentation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500" y="431800"/>
            <a:ext cx="749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Технічна архітектура сучасна і розширювана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11200" y="1092200"/>
            <a:ext cx="736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App Router, React, Tailwind, Prisma і PostgreSQL дають правильний баланс швидкості, SEO та control plane.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11200" y="1587500"/>
            <a:ext cx="1143000" cy="0"/>
          </a:xfrm>
          <a:prstGeom prst="line">
            <a:avLst/>
          </a:prstGeom>
          <a:noFill/>
          <a:ln w="27940">
            <a:solidFill>
              <a:srgbClr val="B08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0" y="4953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0500" y="2146300"/>
            <a:ext cx="9207500" cy="520700"/>
          </a:xfrm>
          <a:prstGeom prst="rect">
            <a:avLst/>
          </a:prstGeom>
          <a:solidFill>
            <a:srgbClr val="131210"/>
          </a:solidFill>
          <a:ln w="12700">
            <a:solidFill>
              <a:srgbClr val="2B28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14500" y="22860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Experience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32250" y="2298700"/>
            <a:ext cx="61277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App Router · React 19 · Tailwind · Framer Motion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460500" y="2971800"/>
            <a:ext cx="9207500" cy="520700"/>
          </a:xfrm>
          <a:prstGeom prst="rect">
            <a:avLst/>
          </a:prstGeom>
          <a:solidFill>
            <a:srgbClr val="131210"/>
          </a:solidFill>
          <a:ln w="12700">
            <a:solidFill>
              <a:srgbClr val="2B28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14500" y="31115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Business logic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32250" y="3124200"/>
            <a:ext cx="61277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Components first · Route Handlers · Server Actions where existing architecture uses them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460500" y="3797300"/>
            <a:ext cx="9207500" cy="520700"/>
          </a:xfrm>
          <a:prstGeom prst="rect">
            <a:avLst/>
          </a:prstGeom>
          <a:solidFill>
            <a:srgbClr val="221A12"/>
          </a:solidFill>
          <a:ln w="12700">
            <a:solidFill>
              <a:srgbClr val="B08A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14500" y="39370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32250" y="3949700"/>
            <a:ext cx="61277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ORM · PostgreSQL/Supabase · schema.prisma as source of truth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460500" y="4622800"/>
            <a:ext cx="9207500" cy="520700"/>
          </a:xfrm>
          <a:prstGeom prst="rect">
            <a:avLst/>
          </a:prstGeom>
          <a:solidFill>
            <a:srgbClr val="131210"/>
          </a:solidFill>
          <a:ln w="12700">
            <a:solidFill>
              <a:srgbClr val="2B28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14500" y="47625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Integrations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32250" y="4775200"/>
            <a:ext cx="61277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Turn14 · WhitePay · Telegram · Resend · Vercel Blob · Airtable webhooks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1200" y="6413500"/>
            <a:ext cx="8826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Джерела: package.json; .agents/PROJECT_CONTEXT.md; src/app/api; prisma/schema.prisma.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588500" y="64135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OneCompany · customer presentation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500" y="431800"/>
            <a:ext cx="749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Що це дає замовнику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11200" y="1092200"/>
            <a:ext cx="736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Платформа вже має основу для продажу, операційного контролю й масштабування supplier-driven каталогу.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11200" y="1587500"/>
            <a:ext cx="1143000" cy="0"/>
          </a:xfrm>
          <a:prstGeom prst="line">
            <a:avLst/>
          </a:prstGeom>
          <a:noFill/>
          <a:ln w="27940">
            <a:solidFill>
              <a:srgbClr val="B08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0" y="4953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20750" y="2032000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82750" y="2032000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Launch-ready storefront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175250" y="206375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преміальна вітрина з UA/EN і brand-led каталогом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20750" y="2527300"/>
            <a:ext cx="9334500" cy="0"/>
          </a:xfrm>
          <a:prstGeom prst="line">
            <a:avLst/>
          </a:prstGeom>
          <a:noFill/>
          <a:ln w="7620">
            <a:solidFill>
              <a:srgbClr val="2A27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0750" y="2832100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82750" y="2832100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Operational control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175250" y="286385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адмінка, CRM, order flow, логістика, audit-ready data model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20750" y="3327400"/>
            <a:ext cx="9334500" cy="0"/>
          </a:xfrm>
          <a:prstGeom prst="line">
            <a:avLst/>
          </a:prstGeom>
          <a:noFill/>
          <a:ln w="7620">
            <a:solidFill>
              <a:srgbClr val="2A27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0750" y="3632200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82750" y="3632200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Supplier scale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175250" y="366395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Turn14 sync + локальна база для пошуку, pricing і маржинальності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20750" y="4127500"/>
            <a:ext cx="9334500" cy="0"/>
          </a:xfrm>
          <a:prstGeom prst="line">
            <a:avLst/>
          </a:prstGeom>
          <a:noFill/>
          <a:ln w="7620">
            <a:solidFill>
              <a:srgbClr val="2A27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0750" y="4432300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2B1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82750" y="4432300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2E9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Commerce expansion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175250" y="446405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9B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WhitePay напрям, B2B approvals, SEO feeds, brand collections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20750" y="4927600"/>
            <a:ext cx="9334500" cy="0"/>
          </a:xfrm>
          <a:prstGeom prst="line">
            <a:avLst/>
          </a:prstGeom>
          <a:noFill/>
          <a:ln w="7620">
            <a:solidFill>
              <a:srgbClr val="2A27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0750" y="5524500"/>
            <a:ext cx="8699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2B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next decision: freeze launch scope, validate live supplier/payment credentials, and run a production hardening checklist.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11200" y="6413500"/>
            <a:ext cx="8826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Джерело: поточний код проекту OneCompany та production-hardening docs у docs/superpowers.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588500" y="64135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4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OneCompany · customer presentation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hnschrif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OneCompany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OneCompany Customer Presentation</dc:title>
  <dc:subject>Customer presentation</dc:subject>
  <dc:creator>OneCompany</dc:creator>
  <cp:lastModifiedBy>OneCompany</cp:lastModifiedBy>
  <cp:revision>1</cp:revision>
  <dcterms:created xsi:type="dcterms:W3CDTF">2026-04-24T09:22:05Z</dcterms:created>
  <dcterms:modified xsi:type="dcterms:W3CDTF">2026-04-24T09:22:05Z</dcterms:modified>
</cp:coreProperties>
</file>